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722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722ED1"/>
                </a:solidFill>
              </a:defRPr>
            </a:pPr>
            <a:r>
              <a:t>iSuperviz Individual Digital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45720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645B82"/>
                </a:solidFill>
              </a:defRPr>
            </a:pPr>
            <a:r>
              <a:t>1/10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43000"/>
            <a:ext cx="46634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D273D"/>
                </a:solidFill>
              </a:defRPr>
            </a:pPr>
            <a:r>
              <a:t>Si Tin Iek (DC227126), Pair 04, Team 07</a:t>
            </a:r>
          </a:p>
          <a:p>
            <a:pPr>
              <a:defRPr sz="1800">
                <a:solidFill>
                  <a:srgbClr val="2D273D"/>
                </a:solidFill>
              </a:defRPr>
            </a:pPr>
            <a:r>
              <a:t>Personal focus: frontend/backend support and service integration</a:t>
            </a:r>
          </a:p>
          <a:p>
            <a:pPr>
              <a:defRPr sz="1800">
                <a:solidFill>
                  <a:srgbClr val="2D273D"/>
                </a:solidFill>
              </a:defRPr>
            </a:pPr>
            <a:r>
              <a:t>Project: AI research supervisor full-stack web application</a:t>
            </a:r>
          </a:p>
        </p:txBody>
      </p:sp>
      <p:pic>
        <p:nvPicPr>
          <p:cNvPr id="6" name="Picture 5" descr="0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-2458783"/>
            <a:ext cx="6126480" cy="1227848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2823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5B82"/>
                </a:solidFill>
              </a:defRPr>
            </a:pPr>
            <a:r>
              <a:t>CISC3003 Team 07 - iSuperviz - Si Tin Iek (DC227126)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722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722ED1"/>
                </a:solidFill>
              </a:defRPr>
            </a:pPr>
            <a:r>
              <a:t>Course Requirements and My Role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45720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645B82"/>
                </a:solidFill>
              </a:defRPr>
            </a:pPr>
            <a:r>
              <a:t>2/10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43000"/>
            <a:ext cx="46634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D273D"/>
                </a:solidFill>
              </a:defRPr>
            </a:pPr>
            <a:r>
              <a:t>RWD, full-stack services, dashboard, search, history and cart</a:t>
            </a:r>
          </a:p>
          <a:p>
            <a:pPr>
              <a:defRPr sz="1800">
                <a:solidFill>
                  <a:srgbClr val="2D273D"/>
                </a:solidFill>
              </a:defRPr>
            </a:pPr>
            <a:r>
              <a:t>Worked with Yang Xu on implementation support</a:t>
            </a:r>
          </a:p>
          <a:p>
            <a:pPr>
              <a:defRPr sz="1800">
                <a:solidFill>
                  <a:srgbClr val="2D273D"/>
                </a:solidFill>
              </a:defRPr>
            </a:pPr>
            <a:r>
              <a:t>Checked that UI pages connect to service logic</a:t>
            </a:r>
          </a:p>
        </p:txBody>
      </p:sp>
      <p:pic>
        <p:nvPicPr>
          <p:cNvPr id="6" name="Picture 5" descr="02_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287496"/>
            <a:ext cx="6126480" cy="67859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2823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5B82"/>
                </a:solidFill>
              </a:defRPr>
            </a:pPr>
            <a:r>
              <a:t>CISC3003 Team 07 - iSuperviz - Si Tin Iek (DC227126)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722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722ED1"/>
                </a:solidFill>
              </a:defRPr>
            </a:pPr>
            <a:r>
              <a:t>Full-Stack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45720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645B82"/>
                </a:solidFill>
              </a:defRPr>
            </a:pPr>
            <a:r>
              <a:t>3/10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43000"/>
            <a:ext cx="46634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D273D"/>
                </a:solidFill>
              </a:defRPr>
            </a:pPr>
            <a:r>
              <a:t>React + TypeScript frontend</a:t>
            </a:r>
          </a:p>
          <a:p>
            <a:pPr>
              <a:defRPr sz="1800">
                <a:solidFill>
                  <a:srgbClr val="2D273D"/>
                </a:solidFill>
              </a:defRPr>
            </a:pPr>
            <a:r>
              <a:t>Express + SQLite backend in source archive</a:t>
            </a:r>
          </a:p>
          <a:p>
            <a:pPr>
              <a:defRPr sz="1800">
                <a:solidFill>
                  <a:srgbClr val="2D273D"/>
                </a:solidFill>
              </a:defRPr>
            </a:pPr>
            <a:r>
              <a:t>Mock API parity for GitHub Pages deployment</a:t>
            </a:r>
          </a:p>
        </p:txBody>
      </p:sp>
      <p:pic>
        <p:nvPicPr>
          <p:cNvPr id="6" name="Picture 5" descr="11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2272" y="1097280"/>
            <a:ext cx="8266176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2823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5B82"/>
                </a:solidFill>
              </a:defRPr>
            </a:pPr>
            <a:r>
              <a:t>CISC3003 Team 07 - iSuperviz - Si Tin Iek (DC227126)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722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722ED1"/>
                </a:solidFill>
              </a:defRPr>
            </a:pPr>
            <a:r>
              <a:t>Authentication and Password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45720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645B82"/>
                </a:solidFill>
              </a:defRPr>
            </a:pPr>
            <a:r>
              <a:t>4/10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43000"/>
            <a:ext cx="46634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D273D"/>
                </a:solidFill>
              </a:defRPr>
            </a:pPr>
            <a:r>
              <a:t>Login flow uses demo account for assessment</a:t>
            </a:r>
          </a:p>
          <a:p>
            <a:pPr>
              <a:defRPr sz="1800">
                <a:solidFill>
                  <a:srgbClr val="2D273D"/>
                </a:solidFill>
              </a:defRPr>
            </a:pPr>
            <a:r>
              <a:t>Forgot-password page supports account checking and reset</a:t>
            </a:r>
          </a:p>
          <a:p>
            <a:pPr>
              <a:defRPr sz="1800">
                <a:solidFill>
                  <a:srgbClr val="2D273D"/>
                </a:solidFill>
              </a:defRPr>
            </a:pPr>
            <a:r>
              <a:t>Backend defines captcha/email verification logic</a:t>
            </a:r>
          </a:p>
        </p:txBody>
      </p:sp>
      <p:pic>
        <p:nvPicPr>
          <p:cNvPr id="6" name="Picture 5" descr="03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6372" y="1143000"/>
            <a:ext cx="7900416" cy="4937760"/>
          </a:xfrm>
          <a:prstGeom prst="rect">
            <a:avLst/>
          </a:prstGeom>
        </p:spPr>
      </p:pic>
      <p:pic>
        <p:nvPicPr>
          <p:cNvPr id="7" name="Picture 6" descr="12_forgot_passwo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1052" y="1143000"/>
            <a:ext cx="7900416" cy="4937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642823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5B82"/>
                </a:solidFill>
              </a:defRPr>
            </a:pPr>
            <a:r>
              <a:t>CISC3003 Team 07 - iSuperviz - Si Tin Iek (DC227126)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722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722ED1"/>
                </a:solidFill>
              </a:defRPr>
            </a:pPr>
            <a:r>
              <a:t>Paper Tracking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45720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645B82"/>
                </a:solidFill>
              </a:defRPr>
            </a:pPr>
            <a:r>
              <a:t>5/10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43000"/>
            <a:ext cx="46634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D273D"/>
                </a:solidFill>
              </a:defRPr>
            </a:pPr>
            <a:r>
              <a:t>Paper list supports search, favorites and credit-aware actions</a:t>
            </a:r>
          </a:p>
          <a:p>
            <a:pPr>
              <a:defRPr sz="1800">
                <a:solidFill>
                  <a:srgbClr val="2D273D"/>
                </a:solidFill>
              </a:defRPr>
            </a:pPr>
            <a:r>
              <a:t>Paper detail shows notes, ideas and AI chat</a:t>
            </a:r>
          </a:p>
          <a:p>
            <a:pPr>
              <a:defRPr sz="1800">
                <a:solidFill>
                  <a:srgbClr val="2D273D"/>
                </a:solidFill>
              </a:defRPr>
            </a:pPr>
            <a:r>
              <a:t>Credits and state changes make the workflow testable</a:t>
            </a:r>
          </a:p>
        </p:txBody>
      </p:sp>
      <p:pic>
        <p:nvPicPr>
          <p:cNvPr id="6" name="Picture 5" descr="05_paper_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7114" y="1143000"/>
            <a:ext cx="7138930" cy="4937760"/>
          </a:xfrm>
          <a:prstGeom prst="rect">
            <a:avLst/>
          </a:prstGeom>
        </p:spPr>
      </p:pic>
      <p:pic>
        <p:nvPicPr>
          <p:cNvPr id="7" name="Picture 6" descr="06_paper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7175" y="1143000"/>
            <a:ext cx="7548168" cy="4937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642823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5B82"/>
                </a:solidFill>
              </a:defRPr>
            </a:pPr>
            <a:r>
              <a:t>CISC3003 Team 07 - iSuperviz - Si Tin Iek (DC227126)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722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722ED1"/>
                </a:solidFill>
              </a:defRPr>
            </a:pPr>
            <a:r>
              <a:t>Peculiar Research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45720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645B82"/>
                </a:solidFill>
              </a:defRPr>
            </a:pPr>
            <a:r>
              <a:t>6/10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43000"/>
            <a:ext cx="46634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D273D"/>
                </a:solidFill>
              </a:defRPr>
            </a:pPr>
            <a:r>
              <a:t>Idea Graph visualises saved ideas and related papers</a:t>
            </a:r>
          </a:p>
          <a:p>
            <a:pPr>
              <a:defRPr sz="1800">
                <a:solidFill>
                  <a:srgbClr val="2D273D"/>
                </a:solidFill>
              </a:defRPr>
            </a:pPr>
            <a:r>
              <a:t>Hallucination Audit demonstrates AI-review service</a:t>
            </a:r>
          </a:p>
          <a:p>
            <a:pPr>
              <a:defRPr sz="1800">
                <a:solidFill>
                  <a:srgbClr val="2D273D"/>
                </a:solidFill>
              </a:defRPr>
            </a:pPr>
            <a:r>
              <a:t>These features extend the project beyond basic login/cart pages</a:t>
            </a:r>
          </a:p>
        </p:txBody>
      </p:sp>
      <p:pic>
        <p:nvPicPr>
          <p:cNvPr id="6" name="Picture 5" descr="07_idea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6372" y="1143000"/>
            <a:ext cx="7900416" cy="4937760"/>
          </a:xfrm>
          <a:prstGeom prst="rect">
            <a:avLst/>
          </a:prstGeom>
        </p:spPr>
      </p:pic>
      <p:pic>
        <p:nvPicPr>
          <p:cNvPr id="7" name="Picture 6" descr="08_hallucin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1052" y="1143000"/>
            <a:ext cx="7900416" cy="4937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642823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5B82"/>
                </a:solidFill>
              </a:defRPr>
            </a:pPr>
            <a:r>
              <a:t>CISC3003 Team 07 - iSuperviz - Si Tin Iek (DC227126)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722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722ED1"/>
                </a:solidFill>
              </a:defRPr>
            </a:pPr>
            <a:r>
              <a:t>Shopping Cart and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45720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645B82"/>
                </a:solidFill>
              </a:defRPr>
            </a:pPr>
            <a:r>
              <a:t>7/10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43000"/>
            <a:ext cx="46634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D273D"/>
                </a:solidFill>
              </a:defRPr>
            </a:pPr>
            <a:r>
              <a:t>Shop and cart implement e-commerce requirements</a:t>
            </a:r>
          </a:p>
          <a:p>
            <a:pPr>
              <a:defRPr sz="1800">
                <a:solidFill>
                  <a:srgbClr val="2D273D"/>
                </a:solidFill>
              </a:defRPr>
            </a:pPr>
            <a:r>
              <a:t>Checkout updates order records and credits</a:t>
            </a:r>
          </a:p>
          <a:p>
            <a:pPr>
              <a:defRPr sz="1800">
                <a:solidFill>
                  <a:srgbClr val="2D273D"/>
                </a:solidFill>
              </a:defRPr>
            </a:pPr>
            <a:r>
              <a:t>Dashboard brings profile, cart, history and orders together</a:t>
            </a:r>
          </a:p>
        </p:txBody>
      </p:sp>
      <p:pic>
        <p:nvPicPr>
          <p:cNvPr id="6" name="Picture 5" descr="09_sh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7092" y="1097280"/>
            <a:ext cx="3607495" cy="4937760"/>
          </a:xfrm>
          <a:prstGeom prst="rect">
            <a:avLst/>
          </a:prstGeom>
        </p:spPr>
      </p:pic>
      <p:pic>
        <p:nvPicPr>
          <p:cNvPr id="7" name="Picture 6" descr="10_c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1097280"/>
            <a:ext cx="3730752" cy="2331720"/>
          </a:xfrm>
          <a:prstGeom prst="rect">
            <a:avLst/>
          </a:prstGeom>
        </p:spPr>
      </p:pic>
      <p:pic>
        <p:nvPicPr>
          <p:cNvPr id="8" name="Picture 7" descr="11_dash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5824" y="3703320"/>
            <a:ext cx="4096512" cy="2560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642823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5B82"/>
                </a:solidFill>
              </a:defRPr>
            </a:pPr>
            <a:r>
              <a:t>CISC3003 Team 07 - iSuperviz - Si Tin Iek (DC227126)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722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722ED1"/>
                </a:solidFill>
              </a:defRPr>
            </a:pPr>
            <a:r>
              <a:t>Testing, Deployment and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45720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645B82"/>
                </a:solidFill>
              </a:defRPr>
            </a:pPr>
            <a:r>
              <a:t>8/10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43000"/>
            <a:ext cx="46634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D273D"/>
                </a:solidFill>
              </a:defRPr>
            </a:pPr>
            <a:r>
              <a:t>Team tests covered mock API parity and responsive rendering</a:t>
            </a:r>
          </a:p>
          <a:p>
            <a:pPr>
              <a:defRPr sz="1800">
                <a:solidFill>
                  <a:srgbClr val="2D273D"/>
                </a:solidFill>
              </a:defRPr>
            </a:pPr>
            <a:r>
              <a:t>GitHub Pages provides public testing URL</a:t>
            </a:r>
          </a:p>
          <a:p>
            <a:pPr>
              <a:defRPr sz="1800">
                <a:solidFill>
                  <a:srgbClr val="2D273D"/>
                </a:solidFill>
              </a:defRPr>
            </a:pPr>
            <a:r>
              <a:t>Screenshots document the full demo walkthrough</a:t>
            </a:r>
          </a:p>
        </p:txBody>
      </p:sp>
      <p:pic>
        <p:nvPicPr>
          <p:cNvPr id="6" name="Picture 5" descr="0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-2458783"/>
            <a:ext cx="6126480" cy="1227848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2823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5B82"/>
                </a:solidFill>
              </a:defRPr>
            </a:pPr>
            <a:r>
              <a:t>CISC3003 Team 07 - iSuperviz - Si Tin Iek (DC227126)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722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722ED1"/>
                </a:solidFill>
              </a:defRPr>
            </a:pPr>
            <a:r>
              <a:t>Personal Learning and 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45720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645B82"/>
                </a:solidFill>
              </a:defRPr>
            </a:pPr>
            <a:r>
              <a:t>9/10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43000"/>
            <a:ext cx="46634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D273D"/>
                </a:solidFill>
              </a:defRPr>
            </a:pPr>
            <a:r>
              <a:t>Learned the importance of shared API contracts</a:t>
            </a:r>
          </a:p>
          <a:p>
            <a:pPr>
              <a:defRPr sz="1800">
                <a:solidFill>
                  <a:srgbClr val="2D273D"/>
                </a:solidFill>
              </a:defRPr>
            </a:pPr>
            <a:r>
              <a:t>Managed state consistency across credits, cart and history</a:t>
            </a:r>
          </a:p>
          <a:p>
            <a:pPr>
              <a:defRPr sz="1800">
                <a:solidFill>
                  <a:srgbClr val="2D273D"/>
                </a:solidFill>
              </a:defRPr>
            </a:pPr>
            <a:r>
              <a:t>Practiced explaining full-stack work clearly and honestly</a:t>
            </a:r>
          </a:p>
        </p:txBody>
      </p:sp>
      <p:pic>
        <p:nvPicPr>
          <p:cNvPr id="6" name="Picture 5" descr="04_se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729964"/>
            <a:ext cx="6126480" cy="590099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2823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5B82"/>
                </a:solidFill>
              </a:defRPr>
            </a:pPr>
            <a:r>
              <a:t>CISC3003 Team 07 - iSuperviz - Si Tin Iek (DC227126)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722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722ED1"/>
                </a:solidFill>
              </a:defRPr>
            </a:pPr>
            <a:r>
              <a:t>Submission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45720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645B82"/>
                </a:solidFill>
              </a:defRPr>
            </a:pPr>
            <a:r>
              <a:t>10/10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43000"/>
            <a:ext cx="46634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D273D"/>
                </a:solidFill>
              </a:defRPr>
            </a:pPr>
            <a:r>
              <a:t>Prepared individual report, PPT and narration script</a:t>
            </a:r>
          </a:p>
          <a:p>
            <a:pPr>
              <a:defRPr sz="1800">
                <a:solidFill>
                  <a:srgbClr val="2D273D"/>
                </a:solidFill>
              </a:defRPr>
            </a:pPr>
            <a:r>
              <a:t>Coding archive named cisc3003-Team07-ProjectCode.zip</a:t>
            </a:r>
          </a:p>
          <a:p>
            <a:pPr>
              <a:defRPr sz="1800">
                <a:solidFill>
                  <a:srgbClr val="2D273D"/>
                </a:solidFill>
              </a:defRPr>
            </a:pPr>
            <a:r>
              <a:t>Digital story should be recorded as 10-15 minute MP4</a:t>
            </a:r>
          </a:p>
        </p:txBody>
      </p:sp>
      <p:pic>
        <p:nvPicPr>
          <p:cNvPr id="6" name="Picture 5" descr="0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-2458783"/>
            <a:ext cx="6126480" cy="1227848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2823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5B82"/>
                </a:solidFill>
              </a:defRPr>
            </a:pPr>
            <a:r>
              <a:t>CISC3003 Team 07 - iSuperviz - Si Tin Iek (DC227126)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